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75" r:id="rId10"/>
    <p:sldId id="295" r:id="rId11"/>
    <p:sldId id="296" r:id="rId12"/>
    <p:sldId id="298" r:id="rId13"/>
    <p:sldId id="299" r:id="rId14"/>
    <p:sldId id="300" r:id="rId15"/>
    <p:sldId id="301" r:id="rId16"/>
    <p:sldId id="302" r:id="rId17"/>
    <p:sldId id="303" r:id="rId18"/>
    <p:sldId id="280" r:id="rId19"/>
    <p:sldId id="304" r:id="rId20"/>
    <p:sldId id="264" r:id="rId21"/>
    <p:sldId id="266" r:id="rId22"/>
    <p:sldId id="265" r:id="rId23"/>
    <p:sldId id="291" r:id="rId24"/>
    <p:sldId id="290" r:id="rId25"/>
    <p:sldId id="310" r:id="rId26"/>
    <p:sldId id="292" r:id="rId27"/>
    <p:sldId id="293" r:id="rId28"/>
    <p:sldId id="311" r:id="rId29"/>
    <p:sldId id="313" r:id="rId30"/>
    <p:sldId id="314" r:id="rId31"/>
    <p:sldId id="315" r:id="rId32"/>
    <p:sldId id="316" r:id="rId33"/>
    <p:sldId id="294" r:id="rId34"/>
    <p:sldId id="267" r:id="rId35"/>
    <p:sldId id="269" r:id="rId36"/>
    <p:sldId id="270" r:id="rId37"/>
    <p:sldId id="271" r:id="rId38"/>
    <p:sldId id="272" r:id="rId39"/>
    <p:sldId id="273" r:id="rId40"/>
    <p:sldId id="274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A"/>
    <a:srgbClr val="0F1C3F"/>
    <a:srgbClr val="FF7C80"/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5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916666666666665E-2"/>
          <c:y val="0.19261672069174773"/>
          <c:w val="0.89830856812144677"/>
          <c:h val="0.672482105330488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ROC_AUC</c:v>
                </c:pt>
                <c:pt idx="1">
                  <c:v>PR_AUC</c:v>
                </c:pt>
                <c:pt idx="2">
                  <c:v>Precision</c:v>
                </c:pt>
                <c:pt idx="3">
                  <c:v>Recall</c:v>
                </c:pt>
                <c:pt idx="4">
                  <c:v>F1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99.71</c:v>
                </c:pt>
                <c:pt idx="1">
                  <c:v>93</c:v>
                </c:pt>
                <c:pt idx="2">
                  <c:v>91</c:v>
                </c:pt>
                <c:pt idx="3">
                  <c:v>91</c:v>
                </c:pt>
                <c:pt idx="4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20-49E4-A84E-7EB2702AD8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ROC_AUC</c:v>
                </c:pt>
                <c:pt idx="1">
                  <c:v>PR_AUC</c:v>
                </c:pt>
                <c:pt idx="2">
                  <c:v>Precision</c:v>
                </c:pt>
                <c:pt idx="3">
                  <c:v>Recall</c:v>
                </c:pt>
                <c:pt idx="4">
                  <c:v>F1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99.73</c:v>
                </c:pt>
                <c:pt idx="1">
                  <c:v>92.7</c:v>
                </c:pt>
                <c:pt idx="2">
                  <c:v>90</c:v>
                </c:pt>
                <c:pt idx="3">
                  <c:v>96</c:v>
                </c:pt>
                <c:pt idx="4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20-49E4-A84E-7EB2702AD8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LGBM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ROC_AUC</c:v>
                </c:pt>
                <c:pt idx="1">
                  <c:v>PR_AUC</c:v>
                </c:pt>
                <c:pt idx="2">
                  <c:v>Precision</c:v>
                </c:pt>
                <c:pt idx="3">
                  <c:v>Recall</c:v>
                </c:pt>
                <c:pt idx="4">
                  <c:v>F1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99.71</c:v>
                </c:pt>
                <c:pt idx="1">
                  <c:v>91.88</c:v>
                </c:pt>
                <c:pt idx="2">
                  <c:v>78</c:v>
                </c:pt>
                <c:pt idx="3">
                  <c:v>93</c:v>
                </c:pt>
                <c:pt idx="4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20-49E4-A84E-7EB2702AD8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543407984"/>
        <c:axId val="1543408944"/>
      </c:barChart>
      <c:catAx>
        <c:axId val="15434079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3408944"/>
        <c:crosses val="autoZero"/>
        <c:auto val="1"/>
        <c:lblAlgn val="ctr"/>
        <c:lblOffset val="100"/>
        <c:noMultiLvlLbl val="0"/>
      </c:catAx>
      <c:valAx>
        <c:axId val="15434089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3407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372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7490-0761-E0FF-97A6-6EB66D08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F9C09-5699-7A11-78CF-F7B15A454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52F3A-6FB8-E848-9600-CDED3D97E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4E512-63CE-BE24-0307-57A4EF2B2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42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8A12-AB10-D320-E2FB-3A019C8A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BD28E-271D-CC07-32C5-3A7D927CA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477A5-D462-572F-C7B6-78521D84E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11B40-E4D0-6516-16F8-239E25C1A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04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CE99-E884-3DA0-4BE8-DA55342A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5B2BF-9587-84D8-6915-2164C82B5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54626-6FCB-8F92-C996-E66A76A55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3854-620B-98D1-3DF4-0DBC2D255D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92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4A2FD-D976-535E-EA7D-4230D4C2F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6654B-DFE7-6930-5660-26BBA1890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50B5C-851C-DEBB-90CF-0F750F8CF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BB712-C035-794A-E10F-22776C9630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9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6D22-17ED-65AE-6366-DEA43C3A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B6FE3-DEDF-02AA-25EE-A464DCD5D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CC09C-2704-4536-8D78-90A0B87AC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AC24D-FC7A-DE71-4193-10900A795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51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A1376-FE4D-707D-1CBC-FECCDDA8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40E61-EDC7-92A6-ECEB-D59044826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DEA89-340B-DD8C-66FB-E037E9888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1CE42-C0E4-3498-2A11-30524A9BE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54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C1C1-7E34-929A-EC57-20786D1D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B0C1D-AD68-D514-F1EA-EE984DEA3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D2DD7-AC9A-DC8F-9F9E-1E12FC3A2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DA00F-229E-D90C-8CD6-D9DDA37325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86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AD4AF-89D1-CBE9-8038-65F398241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27D5F-5764-7D47-89C0-E689F687B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33974-1667-C2E7-93AF-52FF7B1EB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11AAA-1DE4-5069-004E-604CCF9F5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03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21784-C92C-7798-B719-0F66575B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037A1-8B0B-7D01-34F9-9FBF560E5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23712-0C09-1523-0365-5496648D4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3CAC0-ABFF-270D-9314-5AAA0B96D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6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CA289-48E8-B5DE-D076-77FA612B7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43F2A-C0E1-8ADA-FD5B-7B2931415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145C0-A446-F19B-CC1B-2DC7BABDB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3D4B1-44C9-CD73-02DD-E9626B037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76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D0EA3-875C-8DA4-74C3-135DC298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4E442-AEA6-5BE8-6511-5A0B1BF63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0B8E8-5FD7-F2A5-D782-EF41F74BF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B282D-C419-2CBB-9060-046D39878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35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886D-BDB6-B70A-B1E5-D08EE74E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74649-F095-3E7C-C4D1-2061A5356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31CFB-6D46-99A8-7784-C3B09C8CD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E2DB7-A48E-5A81-0A33-B04077E5A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60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77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B336-C14D-338C-19B4-A51026C7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C9D02-C530-7FEB-3AEC-C99B1ACD5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22FBD-1F48-6133-F08C-50CA13185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BBBA8-0D44-0F81-6BE5-9EBC031AB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694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7437-19BF-CC07-1C9F-15BD304E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5B943-DFF5-8E15-BFEA-548D12F3C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17A43-BF6A-9E54-3C72-D518AC1C3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2AFB8-B859-7097-EF4B-83306353D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253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56542-8E91-F695-1355-A59C621CE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D5F82-4917-34D6-1571-89F961A8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B67A5-4B78-781A-4391-1DE644F75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E2F6D-6D05-04DF-1D0F-609990FBE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62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258F-A44C-8D31-A3BC-9377EBA9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DC766-56CD-8936-61CD-8A2D219A0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09DA1-B3FB-95F3-ABEF-BC0D4FB58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49C3F-A369-7145-E789-7B8BEACD0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101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7469-DFDA-FE3B-E52E-315D1D652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2AE08-5B94-515F-658C-E90F855CB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4FB55-42DB-39F6-6753-8086FDE6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F2B6E-3567-DF59-9D00-48A647F1DB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470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FE99-CF82-C5E4-F9A6-DF5DD5819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96B63-918D-8C88-4936-ADC3E4915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2CFDB-44F8-2D52-CAFE-914FDAF23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D5A14-994B-DA02-21C6-D9BC982047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870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1230-7016-631E-106F-CF029076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3FA04-B599-FEC3-B070-1BC20AC0F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8C70E-7016-7C90-0614-27AFB0AFC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28CAA-6775-533F-04B1-03A0940B2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31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5396-D8C8-7F3C-11F7-77DE5C63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CA1A1-3004-3F53-D5E8-AECDCA670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A612-0D93-A441-35E6-07C72B311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1417-7797-1F15-DB1F-594D63463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002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6EA46-52FE-EEBA-B369-65B7F347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B2468-74A4-1C8A-8B32-13D8D3334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DACA3-8056-5F74-D068-1F49FAEBA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13373-0DF7-D346-90AB-4562A04904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886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1E35-1C53-40DE-DC5D-5936DC9A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39B79-2C7F-C285-8438-4234F72B0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268F3-D944-D1BF-5FD5-F9ADBD45A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C7867-5EAB-405E-0A76-EE09249300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395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E54AE-E30D-C24A-3B06-8A854AFE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1DD78-AFE5-B550-20B5-5F8F9CD8B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A7C83-884F-6A44-C9E3-E35205F8E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6F522-666F-7399-5FE6-02CB70D93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640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Fraud%20Detection.pbix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3248" y="1306286"/>
            <a:ext cx="9550399" cy="994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38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CARD FRAUD DETECTION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863222" y="2400300"/>
            <a:ext cx="5417460" cy="509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Risk Assessment with Machine Learning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48053" y="2796539"/>
            <a:ext cx="4647798" cy="411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Manual Review to Intelligent Automation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80060" y="3968564"/>
            <a:ext cx="2183782" cy="93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: Walid Elsayed</a:t>
            </a:r>
          </a:p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data science candidate</a:t>
            </a:r>
          </a:p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2025</a:t>
            </a:r>
            <a:endParaRPr lang="en-US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41ECD0-F35B-14D4-55F1-DDD2B741935F}"/>
              </a:ext>
            </a:extLst>
          </p:cNvPr>
          <p:cNvSpPr/>
          <p:nvPr/>
        </p:nvSpPr>
        <p:spPr>
          <a:xfrm>
            <a:off x="7280682" y="283028"/>
            <a:ext cx="1602061" cy="60960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BF37DB-86A4-465C-F6BA-AE30084F9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396" y="394153"/>
            <a:ext cx="1430632" cy="3800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3810000" cy="1184910"/>
          </a:xfrm>
          <a:prstGeom prst="rect">
            <a:avLst/>
          </a:prstGeom>
          <a:solidFill>
            <a:srgbClr val="FF5128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49680"/>
            <a:ext cx="3810000" cy="1184910"/>
          </a:xfrm>
          <a:prstGeom prst="rect">
            <a:avLst/>
          </a:prstGeom>
          <a:solidFill>
            <a:srgbClr val="02AA9D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3924"/>
            <a:ext cx="8083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478280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04672" y="1965960"/>
            <a:ext cx="341985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Analyzed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19472" y="1478280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ar-EG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919472" y="1965960"/>
            <a:ext cx="341985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Rate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66319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100% transaction coverage vs previous 5% manual sampling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review time by using ML model.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$2.8M additional fraud prevented annually</a:t>
            </a: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C169BA-F9F2-B39E-84B0-EECA24813D45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5935F8-631C-53A9-2FAF-A0278C694EF9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○ ●  Slide 2 of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1181"/>
            <a:ext cx="8083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2253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FF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Challenges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30680"/>
            <a:ext cx="7620000" cy="2114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Excel review of thousands of transactions weekly</a:t>
            </a:r>
            <a:endParaRPr lang="en-US" sz="1600" b="1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5% of transactions examined due to resource constraints</a:t>
            </a:r>
            <a:endParaRPr lang="en-US" sz="1600" b="1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miss sophisticated fraud patterns</a:t>
            </a:r>
            <a:endParaRPr lang="en-US" sz="1600" b="1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detection rather than proactive prevention</a:t>
            </a:r>
            <a:endParaRPr lang="en-US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B5183C-F784-8D25-32B5-BD6966625AAA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7CBB59-D351-54A0-CF8F-E287B37897DF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○ ●  Slide 3 of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438"/>
            <a:ext cx="8083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619408"/>
            <a:ext cx="7620000" cy="1987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100% transaction review process</a:t>
            </a:r>
            <a:endParaRPr lang="en-US" sz="1600" b="1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high-risk transactions for manual investigation</a:t>
            </a:r>
            <a:endParaRPr lang="en-US" sz="1600" b="1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false positives to manageable levels</a:t>
            </a:r>
            <a:endParaRPr lang="en-US" sz="1600" b="1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actionable risk scores for each transaction</a:t>
            </a:r>
            <a:endParaRPr lang="en-US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7C0E13-7566-EED0-E795-D4E17C017771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6C4475-CA1A-6299-DDF0-4D434CF09190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○ ●  Slide 4 of 40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357A78A-0317-F6EF-4DAD-E2D5D97D1042}"/>
              </a:ext>
            </a:extLst>
          </p:cNvPr>
          <p:cNvSpPr/>
          <p:nvPr/>
        </p:nvSpPr>
        <p:spPr>
          <a:xfrm>
            <a:off x="609600" y="102108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71878"/>
            <a:ext cx="2489168" cy="1184910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68" y="1071878"/>
            <a:ext cx="2489168" cy="1184910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37" y="1071878"/>
            <a:ext cx="2489263" cy="1184910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28186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17880" y="1213399"/>
            <a:ext cx="207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17880" y="1751874"/>
            <a:ext cx="207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35648" y="1213399"/>
            <a:ext cx="207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35648" y="1751874"/>
            <a:ext cx="207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53416" y="1213399"/>
            <a:ext cx="20727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0.6 %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253416" y="1751874"/>
            <a:ext cx="207270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135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B9F90A41-992E-E196-53F9-8801A56820FA}"/>
              </a:ext>
            </a:extLst>
          </p:cNvPr>
          <p:cNvSpPr txBox="1">
            <a:spLocks/>
          </p:cNvSpPr>
          <p:nvPr/>
        </p:nvSpPr>
        <p:spPr>
          <a:xfrm>
            <a:off x="609600" y="2576109"/>
            <a:ext cx="7349677" cy="1963239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cardholder information (</a:t>
            </a:r>
            <a:r>
              <a:rPr lang="en-US" sz="20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– dob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atinLnBrk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Merchant category codes.</a:t>
            </a:r>
          </a:p>
          <a:p>
            <a:pPr latinLnBrk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 details (</a:t>
            </a:r>
            <a:r>
              <a:rPr lang="en-US" sz="20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– street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atinLnBrk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 coordinates (</a:t>
            </a:r>
            <a:r>
              <a:rPr lang="en-US" sz="20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 – Long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 data (</a:t>
            </a:r>
            <a:r>
              <a:rPr lang="en-US" sz="200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trans_date_trans_time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14FF0D-7B21-A605-04BF-790C5F84A672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accent4"/>
                </a:solidFill>
              </a:rPr>
              <a:t>○ ○ ○ ○ ●  Slide 5 of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0832"/>
            <a:ext cx="8083296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Fraud Patterns Discovered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978649"/>
            <a:ext cx="7620000" cy="191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45% fraud concentrated in 5 states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60% fraud occurs outside business hours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fraud near $2,500 limit testing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transactions within 1 hour strongly correlate with fraud</a:t>
            </a:r>
            <a:endParaRPr lang="en-US" sz="13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1C6E4-966B-37B1-FE10-BBAB91F82B96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FBD5F2-5675-0730-594F-505C41E281C4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○ ●  Slide 6 of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5EC1D-9931-540B-4CE0-A3E07BA2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D09B1E-44F9-159A-E797-80DCD7642727}"/>
              </a:ext>
            </a:extLst>
          </p:cNvPr>
          <p:cNvSpPr/>
          <p:nvPr/>
        </p:nvSpPr>
        <p:spPr>
          <a:xfrm>
            <a:off x="1234067" y="1325879"/>
            <a:ext cx="1509132" cy="844891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Reading Data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49BC39-87B5-F627-B70A-DCF881536C80}"/>
              </a:ext>
            </a:extLst>
          </p:cNvPr>
          <p:cNvSpPr/>
          <p:nvPr/>
        </p:nvSpPr>
        <p:spPr>
          <a:xfrm>
            <a:off x="530352" y="28621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Workflow</a:t>
            </a:r>
            <a:endParaRPr lang="en-US" sz="27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4D611B86-E162-0D7D-06FE-381C0A0B5589}"/>
              </a:ext>
            </a:extLst>
          </p:cNvPr>
          <p:cNvSpPr/>
          <p:nvPr/>
        </p:nvSpPr>
        <p:spPr>
          <a:xfrm>
            <a:off x="3787696" y="1325879"/>
            <a:ext cx="1509132" cy="844891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 Data Preprocessing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0D4541D9-D087-F89C-0C33-69753551A41E}"/>
              </a:ext>
            </a:extLst>
          </p:cNvPr>
          <p:cNvSpPr/>
          <p:nvPr/>
        </p:nvSpPr>
        <p:spPr>
          <a:xfrm>
            <a:off x="6341324" y="1325879"/>
            <a:ext cx="1509132" cy="844891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EDA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B32A93CF-BE2C-918C-C495-6280EE46CC63}"/>
              </a:ext>
            </a:extLst>
          </p:cNvPr>
          <p:cNvSpPr/>
          <p:nvPr/>
        </p:nvSpPr>
        <p:spPr>
          <a:xfrm>
            <a:off x="6341324" y="2657887"/>
            <a:ext cx="1509132" cy="844891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US">
                <a:solidFill>
                  <a:schemeClr val="accent4"/>
                </a:solidFill>
              </a:rPr>
              <a:t>Feature engineering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FEC3C2AE-6009-5D50-737C-5459FCC463F1}"/>
              </a:ext>
            </a:extLst>
          </p:cNvPr>
          <p:cNvSpPr/>
          <p:nvPr/>
        </p:nvSpPr>
        <p:spPr>
          <a:xfrm>
            <a:off x="1234067" y="3979125"/>
            <a:ext cx="1509132" cy="844891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Holdout set (0.3%)</a:t>
            </a: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379CC57A-50EB-4F31-F2B0-B4F470FA88E9}"/>
              </a:ext>
            </a:extLst>
          </p:cNvPr>
          <p:cNvSpPr/>
          <p:nvPr/>
        </p:nvSpPr>
        <p:spPr>
          <a:xfrm>
            <a:off x="6341324" y="3979123"/>
            <a:ext cx="1509132" cy="844891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Balancing 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B9B9FB4-41C8-067C-A0D6-96024FB32484}"/>
              </a:ext>
            </a:extLst>
          </p:cNvPr>
          <p:cNvSpPr/>
          <p:nvPr/>
        </p:nvSpPr>
        <p:spPr>
          <a:xfrm>
            <a:off x="3787696" y="3979124"/>
            <a:ext cx="1509132" cy="844891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Splitting </a:t>
            </a: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839B9B03-E2E2-7616-CAA5-DD927545371E}"/>
              </a:ext>
            </a:extLst>
          </p:cNvPr>
          <p:cNvSpPr/>
          <p:nvPr/>
        </p:nvSpPr>
        <p:spPr>
          <a:xfrm>
            <a:off x="1234067" y="2652502"/>
            <a:ext cx="1509132" cy="844891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Feature selection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4593C551-8FC9-6610-6692-AEAE42E51871}"/>
              </a:ext>
            </a:extLst>
          </p:cNvPr>
          <p:cNvSpPr/>
          <p:nvPr/>
        </p:nvSpPr>
        <p:spPr>
          <a:xfrm>
            <a:off x="3787696" y="2657886"/>
            <a:ext cx="1509132" cy="844891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Data Encoding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16078B-4E73-F23B-1718-AD979FC270AC}"/>
              </a:ext>
            </a:extLst>
          </p:cNvPr>
          <p:cNvCxnSpPr>
            <a:stCxn id="2" idx="3"/>
            <a:endCxn id="12" idx="1"/>
          </p:cNvCxnSpPr>
          <p:nvPr/>
        </p:nvCxnSpPr>
        <p:spPr>
          <a:xfrm>
            <a:off x="2743199" y="1748325"/>
            <a:ext cx="1044497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03B252-228D-BEC4-1CEA-F69525112823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5296828" y="1748325"/>
            <a:ext cx="1044496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85091E-BA92-27BC-4D9F-E72604FA45B8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7095890" y="2170770"/>
            <a:ext cx="0" cy="4871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41D2DC-FF5E-8751-D726-B35A6303A781}"/>
              </a:ext>
            </a:extLst>
          </p:cNvPr>
          <p:cNvCxnSpPr>
            <a:stCxn id="15" idx="1"/>
            <a:endCxn id="21" idx="3"/>
          </p:cNvCxnSpPr>
          <p:nvPr/>
        </p:nvCxnSpPr>
        <p:spPr>
          <a:xfrm flipH="1" flipV="1">
            <a:off x="5296828" y="3080332"/>
            <a:ext cx="1044496" cy="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87DE6B-E813-1B69-A6A0-CD2DF0E01A66}"/>
              </a:ext>
            </a:extLst>
          </p:cNvPr>
          <p:cNvCxnSpPr>
            <a:stCxn id="21" idx="1"/>
            <a:endCxn id="20" idx="3"/>
          </p:cNvCxnSpPr>
          <p:nvPr/>
        </p:nvCxnSpPr>
        <p:spPr>
          <a:xfrm flipH="1" flipV="1">
            <a:off x="2743199" y="3074948"/>
            <a:ext cx="1044497" cy="538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17A4A6-7688-2123-431E-A7ACEE819B74}"/>
              </a:ext>
            </a:extLst>
          </p:cNvPr>
          <p:cNvCxnSpPr>
            <a:stCxn id="20" idx="2"/>
            <a:endCxn id="16" idx="0"/>
          </p:cNvCxnSpPr>
          <p:nvPr/>
        </p:nvCxnSpPr>
        <p:spPr>
          <a:xfrm>
            <a:off x="1988633" y="3497393"/>
            <a:ext cx="0" cy="48173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4CE3F5-FD38-21E9-E430-188B5ED2DB79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2743199" y="4401570"/>
            <a:ext cx="1044497" cy="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DD8AD14-AEB9-E6FE-1E09-D91CDB17B189}"/>
              </a:ext>
            </a:extLst>
          </p:cNvPr>
          <p:cNvCxnSpPr>
            <a:stCxn id="18" idx="3"/>
            <a:endCxn id="17" idx="1"/>
          </p:cNvCxnSpPr>
          <p:nvPr/>
        </p:nvCxnSpPr>
        <p:spPr>
          <a:xfrm flipV="1">
            <a:off x="5296828" y="4401569"/>
            <a:ext cx="1044496" cy="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30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0731"/>
            <a:ext cx="8083296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98842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376681"/>
            <a:ext cx="3505200" cy="49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any missing values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24400" y="98842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376681"/>
            <a:ext cx="3505200" cy="40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duplication in rows 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7DAF0E-ABA4-8DAC-6C46-0CB991463FA0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7EB092-1EE3-6764-589B-C45CBD36A498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○ ●  Slide 8 of 40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96105EB-7547-A762-2D09-97733DDEDE9E}"/>
              </a:ext>
            </a:extLst>
          </p:cNvPr>
          <p:cNvSpPr/>
          <p:nvPr/>
        </p:nvSpPr>
        <p:spPr>
          <a:xfrm>
            <a:off x="609600" y="19400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Types </a:t>
            </a:r>
            <a:endParaRPr lang="en-US" sz="16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D774EC23-62C7-EE60-99DD-29718A84CCE9}"/>
              </a:ext>
            </a:extLst>
          </p:cNvPr>
          <p:cNvSpPr/>
          <p:nvPr/>
        </p:nvSpPr>
        <p:spPr>
          <a:xfrm>
            <a:off x="914400" y="2365795"/>
            <a:ext cx="3505200" cy="960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contains : (9) objects – (4) int64 – (6) float64 – (7) bool – (1) datetime</a:t>
            </a:r>
            <a:endParaRPr lang="en-US" sz="14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969E8185-8A74-F65B-B9C1-08A43A32CBCD}"/>
              </a:ext>
            </a:extLst>
          </p:cNvPr>
          <p:cNvSpPr/>
          <p:nvPr/>
        </p:nvSpPr>
        <p:spPr>
          <a:xfrm>
            <a:off x="4724400" y="19400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formats </a:t>
            </a:r>
            <a:endParaRPr lang="en-US" sz="16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D2DF426-D031-CDCE-5B10-C3C19996AF38}"/>
              </a:ext>
            </a:extLst>
          </p:cNvPr>
          <p:cNvSpPr/>
          <p:nvPr/>
        </p:nvSpPr>
        <p:spPr>
          <a:xfrm>
            <a:off x="5029200" y="2365795"/>
            <a:ext cx="350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are standard except changing (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trans_date_trans_time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to (datetime) to meet our solution strategy.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C12ADED4-58B4-B966-4A71-E5559C2BBF56}"/>
              </a:ext>
            </a:extLst>
          </p:cNvPr>
          <p:cNvSpPr/>
          <p:nvPr/>
        </p:nvSpPr>
        <p:spPr>
          <a:xfrm>
            <a:off x="1164190" y="3797252"/>
            <a:ext cx="6974115" cy="357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features have very large unique values like (</a:t>
            </a: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merchant, city, dob, …</a:t>
            </a:r>
            <a:r>
              <a:rPr lang="en-US" sz="1500" b="1" dirty="0" err="1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</a:t>
            </a: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ADEDE-008F-7C0F-398C-B00824BF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EE7B68-3F86-7EA7-934E-53826B947D19}"/>
              </a:ext>
            </a:extLst>
          </p:cNvPr>
          <p:cNvSpPr/>
          <p:nvPr/>
        </p:nvSpPr>
        <p:spPr>
          <a:xfrm>
            <a:off x="606552" y="275671"/>
            <a:ext cx="8083296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- INSIGHTS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A3EEDB-3E04-44B0-00DE-8032360AEA58}"/>
              </a:ext>
            </a:extLst>
          </p:cNvPr>
          <p:cNvSpPr/>
          <p:nvPr/>
        </p:nvSpPr>
        <p:spPr>
          <a:xfrm>
            <a:off x="609600" y="10210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PREVALENCE: 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FA8AA5-3997-6787-1DA0-68AEC912AE4D}"/>
              </a:ext>
            </a:extLst>
          </p:cNvPr>
          <p:cNvSpPr/>
          <p:nvPr/>
        </p:nvSpPr>
        <p:spPr>
          <a:xfrm>
            <a:off x="914400" y="1391195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Rate: </a:t>
            </a: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0.6 %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(7506 transactions)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imbalanced dataset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specialized sampling strategies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CC0B93-0AE5-7957-2464-952E55FFBFB9}"/>
              </a:ext>
            </a:extLst>
          </p:cNvPr>
          <p:cNvSpPr/>
          <p:nvPr/>
        </p:nvSpPr>
        <p:spPr>
          <a:xfrm>
            <a:off x="4724400" y="10210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AMOUNT 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4F28C6-6904-13EF-5838-CD789058315F}"/>
              </a:ext>
            </a:extLst>
          </p:cNvPr>
          <p:cNvSpPr/>
          <p:nvPr/>
        </p:nvSpPr>
        <p:spPr>
          <a:xfrm>
            <a:off x="5029200" y="1391195"/>
            <a:ext cx="3505200" cy="117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$1 - $28,949 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$69.06 | Median: $47.52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(mean &gt; median)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35BCD8-1DF5-4023-A500-402861633E51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BF88F18-660B-A73F-4CD7-E3B305F90C9D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● ●  Slide 9 of 40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AC6A45F-1D5A-F2F1-10A5-24AD7C004B5E}"/>
              </a:ext>
            </a:extLst>
          </p:cNvPr>
          <p:cNvSpPr/>
          <p:nvPr/>
        </p:nvSpPr>
        <p:spPr>
          <a:xfrm>
            <a:off x="609600" y="272861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SPAN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D99C780-A46D-A21A-47BF-DEB18B1B6AC1}"/>
              </a:ext>
            </a:extLst>
          </p:cNvPr>
          <p:cNvSpPr/>
          <p:nvPr/>
        </p:nvSpPr>
        <p:spPr>
          <a:xfrm>
            <a:off x="914400" y="3095106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range: 14 - 96 years 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age: 46 years 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multiple generations 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8D3D59D-5D13-04BE-AEBF-22C8722BC1AC}"/>
              </a:ext>
            </a:extLst>
          </p:cNvPr>
          <p:cNvSpPr/>
          <p:nvPr/>
        </p:nvSpPr>
        <p:spPr>
          <a:xfrm>
            <a:off x="4648200" y="272739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COVERAGE</a:t>
            </a:r>
            <a:endParaRPr lang="en-US" sz="16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43268E1E-6EB2-E85A-FC07-D6C3B93BBA1B}"/>
              </a:ext>
            </a:extLst>
          </p:cNvPr>
          <p:cNvSpPr/>
          <p:nvPr/>
        </p:nvSpPr>
        <p:spPr>
          <a:xfrm>
            <a:off x="4953000" y="3093883"/>
            <a:ext cx="3657600" cy="117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Jan 2019 - Jun 2020 (18 months) 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hours: 0-23 (all hours)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time range for pattern analysis</a:t>
            </a:r>
          </a:p>
        </p:txBody>
      </p:sp>
    </p:spTree>
    <p:extLst>
      <p:ext uri="{BB962C8B-B14F-4D97-AF65-F5344CB8AC3E}">
        <p14:creationId xmlns:p14="http://schemas.microsoft.com/office/powerpoint/2010/main" val="158176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E911-156C-F5D0-81D4-AB249FD6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676660-3358-8347-7C62-06F03BC96007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1C3CE92-BA8F-0B0F-0B45-EC2FF0FC1471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● ●  Slide 10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1442A68F-38F7-F375-A83A-68C96798065E}"/>
              </a:ext>
            </a:extLst>
          </p:cNvPr>
          <p:cNvSpPr/>
          <p:nvPr/>
        </p:nvSpPr>
        <p:spPr>
          <a:xfrm>
            <a:off x="653142" y="915751"/>
            <a:ext cx="4630057" cy="2978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is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imbalanced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prevalence is about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0.579%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meaning roughly</a:t>
            </a:r>
            <a:b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transactions is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 .</a:t>
            </a: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confirms the need for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splitting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PR‑AUC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primary metric.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9EC00038-C9DF-9B40-6F20-0F9274959872}"/>
              </a:ext>
            </a:extLst>
          </p:cNvPr>
          <p:cNvSpPr/>
          <p:nvPr/>
        </p:nvSpPr>
        <p:spPr>
          <a:xfrm>
            <a:off x="606552" y="275671"/>
            <a:ext cx="3704191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Counts</a:t>
            </a:r>
            <a:endParaRPr lang="en-US" sz="2700" dirty="0"/>
          </a:p>
        </p:txBody>
      </p:sp>
      <p:pic>
        <p:nvPicPr>
          <p:cNvPr id="4" name="Picture 3" descr="A screenshot of a graph">
            <a:extLst>
              <a:ext uri="{FF2B5EF4-FFF2-40B4-BE49-F238E27FC236}">
                <a16:creationId xmlns:a16="http://schemas.microsoft.com/office/drawing/2014/main" id="{07640C3C-344B-8CF9-C084-60A07CF1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404"/>
          <a:stretch>
            <a:fillRect/>
          </a:stretch>
        </p:blipFill>
        <p:spPr>
          <a:xfrm>
            <a:off x="5334002" y="648495"/>
            <a:ext cx="3657600" cy="373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0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B0129-125A-6A95-66B5-01C31E8A0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3664D72-187A-5BD5-8CCF-CD624F3DCC18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9308C9-2216-23B4-1C74-47B7A3C1F58A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● ●  Slide 11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15E1709-1205-16A9-8F49-8610A725F263}"/>
              </a:ext>
            </a:extLst>
          </p:cNvPr>
          <p:cNvSpPr/>
          <p:nvPr/>
        </p:nvSpPr>
        <p:spPr>
          <a:xfrm>
            <a:off x="747485" y="2866571"/>
            <a:ext cx="8113487" cy="190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rate spikes sharply around late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night/early morning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rises again to reach the peak at the evening near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23:00–00:00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prefer off-hours when human oversight is lower.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is_night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14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is_weekend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retained, and operational controls can tighten approvals during these windows.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Mid‑to‑late week (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Wed–Fri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shows higher rates than Monday and Sunday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DE933F43-2193-32A4-44F8-9A0E94A72023}"/>
              </a:ext>
            </a:extLst>
          </p:cNvPr>
          <p:cNvSpPr/>
          <p:nvPr/>
        </p:nvSpPr>
        <p:spPr>
          <a:xfrm>
            <a:off x="606552" y="275671"/>
            <a:ext cx="3704191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by hour</a:t>
            </a:r>
            <a:endParaRPr lang="en-US" sz="2700" dirty="0"/>
          </a:p>
        </p:txBody>
      </p:sp>
      <p:pic>
        <p:nvPicPr>
          <p:cNvPr id="3" name="Picture 2" descr="A graph and a chart&#10;&#10;AI-generated content may be incorrect.">
            <a:extLst>
              <a:ext uri="{FF2B5EF4-FFF2-40B4-BE49-F238E27FC236}">
                <a16:creationId xmlns:a16="http://schemas.microsoft.com/office/drawing/2014/main" id="{2FB4FFFC-2923-3BAD-FE81-DBBCEBDC8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" y="765522"/>
            <a:ext cx="8113487" cy="210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82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A287-1E6F-B394-B9E0-49CC66B2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79967C-C761-98A1-8991-E6EF9D7F3130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A1CA2C-1BA0-2469-D3F1-6B0E8215DA01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● ●  Slide 12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65B9963-374D-C787-9D72-F8812601613D}"/>
              </a:ext>
            </a:extLst>
          </p:cNvPr>
          <p:cNvSpPr/>
          <p:nvPr/>
        </p:nvSpPr>
        <p:spPr>
          <a:xfrm>
            <a:off x="611704" y="3135086"/>
            <a:ext cx="8140410" cy="1560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 transactions cluster at higher amounts with a distinct mode around the high hundred.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spend spreads across lower ranges.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cents histogram is nearly uniform with only subtle differences indicating no strong bias toward round numbers for fraud in this dataset.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features may have limited standalone signal and should be combined with other features.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C6EDB05C-139C-E63A-3D2B-EDADC47E09C8}"/>
              </a:ext>
            </a:extLst>
          </p:cNvPr>
          <p:cNvSpPr/>
          <p:nvPr/>
        </p:nvSpPr>
        <p:spPr>
          <a:xfrm>
            <a:off x="606552" y="275671"/>
            <a:ext cx="5438648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and Cent distribution</a:t>
            </a:r>
            <a:endParaRPr lang="en-US" sz="2700" dirty="0"/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0169BABF-4202-5BBD-F872-DB834655F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66" y="846085"/>
            <a:ext cx="7910285" cy="22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76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C929-95E3-D0D7-2F5C-BD7C1B0A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17FCFE-A925-A383-E8B0-546C1732A9E2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DB70F2-E441-457F-9D5C-579478FED29E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● ●  Slide 13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598E1C7-853C-38CE-B96F-0DA54563383C}"/>
              </a:ext>
            </a:extLst>
          </p:cNvPr>
          <p:cNvSpPr/>
          <p:nvPr/>
        </p:nvSpPr>
        <p:spPr>
          <a:xfrm>
            <a:off x="611704" y="3135086"/>
            <a:ext cx="8140410" cy="1850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Low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shopping and grocery POS carry the highest fraud rates.</a:t>
            </a:r>
          </a:p>
          <a:p>
            <a:pPr marL="342900" indent="-342900" algn="justLow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categories like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food_dining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health_fitness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materially lower.</a:t>
            </a:r>
          </a:p>
          <a:p>
            <a:pPr marL="342900" indent="-342900" algn="justLow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targeted controls such as stricter authentication and lower thresholds for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shopping_net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grocery_pos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during high‑risk periods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C6CE0060-14BC-44DC-4506-CCA71D4D2E85}"/>
              </a:ext>
            </a:extLst>
          </p:cNvPr>
          <p:cNvSpPr/>
          <p:nvPr/>
        </p:nvSpPr>
        <p:spPr>
          <a:xfrm>
            <a:off x="606552" y="275671"/>
            <a:ext cx="3617105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categories</a:t>
            </a:r>
            <a:endParaRPr lang="en-US" sz="2700" dirty="0"/>
          </a:p>
        </p:txBody>
      </p:sp>
      <p:pic>
        <p:nvPicPr>
          <p:cNvPr id="3" name="Picture 2" descr="A graph of a fraud rate&#10;&#10;AI-generated content may be incorrect.">
            <a:extLst>
              <a:ext uri="{FF2B5EF4-FFF2-40B4-BE49-F238E27FC236}">
                <a16:creationId xmlns:a16="http://schemas.microsoft.com/office/drawing/2014/main" id="{4B4D6FFE-F06E-0695-9E07-F5A1FC45A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62" y="749912"/>
            <a:ext cx="6987475" cy="238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10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F28D-3767-488B-A84F-798C0BB3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C79DAC-3268-7469-3127-777209B05D42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C21747-B8C3-5054-3909-7BDE239861D0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● ●  Slide 14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E4CE847A-94FC-20C9-EC4E-AD9C22D44786}"/>
              </a:ext>
            </a:extLst>
          </p:cNvPr>
          <p:cNvSpPr/>
          <p:nvPr/>
        </p:nvSpPr>
        <p:spPr>
          <a:xfrm>
            <a:off x="611704" y="3258457"/>
            <a:ext cx="8140410" cy="139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Low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subset of merchants shows materially higher fraud rates than the rest</a:t>
            </a:r>
          </a:p>
          <a:p>
            <a:pPr marL="342900" indent="-342900" algn="justLow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Indicating concentrated risk that can be leveraged for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merchant_risk_score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</a:t>
            </a:r>
          </a:p>
          <a:p>
            <a:pPr marL="342900" indent="-342900" algn="justLow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enhanced verification and tighter limits for these merchants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877C9A71-3A77-D8EE-E286-9EB7E9378BA0}"/>
              </a:ext>
            </a:extLst>
          </p:cNvPr>
          <p:cNvSpPr/>
          <p:nvPr/>
        </p:nvSpPr>
        <p:spPr>
          <a:xfrm>
            <a:off x="606552" y="275671"/>
            <a:ext cx="3617105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merchants</a:t>
            </a:r>
            <a:endParaRPr lang="en-US" sz="2700" dirty="0"/>
          </a:p>
        </p:txBody>
      </p:sp>
      <p:pic>
        <p:nvPicPr>
          <p:cNvPr id="4" name="Picture 3" descr="A graph of 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23E85C0-930C-D26E-EB9A-360406F22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84" y="904382"/>
            <a:ext cx="7136250" cy="234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48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21460-CB2E-E482-B8BE-D93965C55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FEB22D-1CD0-8ABB-3DA3-A60FE55451C4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AF6239F-E274-09F4-E4B4-2EEC833098B8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● ●  Slide 15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BCDF631-D322-25F4-D83A-230F28730266}"/>
              </a:ext>
            </a:extLst>
          </p:cNvPr>
          <p:cNvSpPr/>
          <p:nvPr/>
        </p:nvSpPr>
        <p:spPr>
          <a:xfrm>
            <a:off x="449941" y="1045028"/>
            <a:ext cx="4942115" cy="313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Low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distance distributions for fraud and non‑fraud </a:t>
            </a:r>
            <a:b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very similar</a:t>
            </a:r>
          </a:p>
          <a:p>
            <a:pPr marL="342900" indent="-342900" algn="justLow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distance with temporal context (e.g., prior location, inter‑arrival time, and estimated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speed_kmh_est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state/city change indicators is likely to add more predictive power than distance by itself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3647B6E1-CA8A-02DC-31D0-143E42F983FF}"/>
              </a:ext>
            </a:extLst>
          </p:cNvPr>
          <p:cNvSpPr/>
          <p:nvPr/>
        </p:nvSpPr>
        <p:spPr>
          <a:xfrm>
            <a:off x="606551" y="275671"/>
            <a:ext cx="5206420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Customer–Merchant distance</a:t>
            </a:r>
            <a:endParaRPr lang="en-US" sz="2700" dirty="0"/>
          </a:p>
        </p:txBody>
      </p:sp>
      <p:pic>
        <p:nvPicPr>
          <p:cNvPr id="3" name="Picture 2" descr="A graph of a customer&#10;&#10;AI-generated content may be incorrect.">
            <a:extLst>
              <a:ext uri="{FF2B5EF4-FFF2-40B4-BE49-F238E27FC236}">
                <a16:creationId xmlns:a16="http://schemas.microsoft.com/office/drawing/2014/main" id="{77B17F5B-45CF-4914-B983-6B1F08886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71" y="808587"/>
            <a:ext cx="3425484" cy="357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05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2967-5A6C-4311-3535-6EB312AD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8F868B-8D80-D60F-4897-2F72A2F5B29B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F950D0-42A3-F750-799A-E674D7D1182B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○ ● ●  Slide 16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E797AB6-A109-CC99-F3EA-530570146CB5}"/>
              </a:ext>
            </a:extLst>
          </p:cNvPr>
          <p:cNvSpPr/>
          <p:nvPr/>
        </p:nvSpPr>
        <p:spPr>
          <a:xfrm>
            <a:off x="449942" y="1045028"/>
            <a:ext cx="4840514" cy="313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displays heavier mass at very short inter‑arrival times compared to non‑fraud.</a:t>
            </a: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indicator for bursty behavior typical of automated retries or rapid multi‑attempt attacks</a:t>
            </a: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count features (cnt_24h) will help the model capture these bursts.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E5DC6B90-B11C-CE92-DDEB-B22A34501D73}"/>
              </a:ext>
            </a:extLst>
          </p:cNvPr>
          <p:cNvSpPr/>
          <p:nvPr/>
        </p:nvSpPr>
        <p:spPr>
          <a:xfrm>
            <a:off x="606551" y="275671"/>
            <a:ext cx="2746249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Inter‑arrival time</a:t>
            </a:r>
            <a:endParaRPr lang="en-US" sz="2700" dirty="0"/>
          </a:p>
        </p:txBody>
      </p:sp>
      <p:pic>
        <p:nvPicPr>
          <p:cNvPr id="4" name="Picture 3" descr="A graph of a number of trans&#10;&#10;AI-generated content may be incorrect.">
            <a:extLst>
              <a:ext uri="{FF2B5EF4-FFF2-40B4-BE49-F238E27FC236}">
                <a16:creationId xmlns:a16="http://schemas.microsoft.com/office/drawing/2014/main" id="{CE99418C-93EB-5961-3AAE-267994525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943" y="604803"/>
            <a:ext cx="3501570" cy="357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02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D032-290E-B555-06AE-CD6B2B238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CE009C-06A5-AF84-4B7F-A53DFA6C5681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C0F891-3883-12C7-EFFF-287F9533FB01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● ● ●  Slide 17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33D2304-6138-4C41-FF27-31F65F3BFB1F}"/>
              </a:ext>
            </a:extLst>
          </p:cNvPr>
          <p:cNvSpPr/>
          <p:nvPr/>
        </p:nvSpPr>
        <p:spPr>
          <a:xfrm>
            <a:off x="449942" y="1045028"/>
            <a:ext cx="4840514" cy="313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shows a right‑shifted tail with more cases at higher 24‑hour counts than non‑fraud</a:t>
            </a: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features like cnt_24h and sum_amt_24h are therefore valuable signals</a:t>
            </a: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rate limits could be tuned to trigger reviews when short‑window activity exceeds normal baselines.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82F8FA76-5A76-3853-5D4F-496BC93FBED4}"/>
              </a:ext>
            </a:extLst>
          </p:cNvPr>
          <p:cNvSpPr/>
          <p:nvPr/>
        </p:nvSpPr>
        <p:spPr>
          <a:xfrm>
            <a:off x="606551" y="275671"/>
            <a:ext cx="5061278" cy="62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per 24h window</a:t>
            </a:r>
            <a:endParaRPr lang="en-US" sz="2700" dirty="0"/>
          </a:p>
        </p:txBody>
      </p:sp>
      <p:pic>
        <p:nvPicPr>
          <p:cNvPr id="3" name="Picture 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5206257C-9E40-F2D0-FD5F-2E41CED6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457" y="824915"/>
            <a:ext cx="3380600" cy="357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92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B1934-446A-1DEA-0459-C05EBE55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FCF9F7-F20D-488D-EEBD-376D64C955A2}"/>
              </a:ext>
            </a:extLst>
          </p:cNvPr>
          <p:cNvSpPr/>
          <p:nvPr/>
        </p:nvSpPr>
        <p:spPr>
          <a:xfrm>
            <a:off x="609600" y="29786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D4337-2F29-8C33-3EB2-7B1809CAC745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24B3328-906D-BC2F-8746-58AE6051CA17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● ● ●  Slide 18 of 40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DB4B2AA-7CCE-E739-839A-0BD801BE43C0}"/>
              </a:ext>
            </a:extLst>
          </p:cNvPr>
          <p:cNvSpPr/>
          <p:nvPr/>
        </p:nvSpPr>
        <p:spPr>
          <a:xfrm>
            <a:off x="685800" y="85779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 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2C652E7-D611-9835-D59D-AE408863D927}"/>
              </a:ext>
            </a:extLst>
          </p:cNvPr>
          <p:cNvSpPr/>
          <p:nvPr/>
        </p:nvSpPr>
        <p:spPr>
          <a:xfrm>
            <a:off x="823104" y="1162275"/>
            <a:ext cx="7656287" cy="1461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raw transactions into signals capturing behavior over time, location changes, spending patterns, and merchant risk, while preventing leakage by using past‑only computations per card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434FC6A-7FDB-BB55-72D7-17F0B078C0CE}"/>
              </a:ext>
            </a:extLst>
          </p:cNvPr>
          <p:cNvSpPr/>
          <p:nvPr/>
        </p:nvSpPr>
        <p:spPr>
          <a:xfrm>
            <a:off x="823104" y="2429010"/>
            <a:ext cx="7832272" cy="185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Features: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of day, day of week, weekend flags, seasonal patterns</a:t>
            </a:r>
          </a:p>
          <a:p>
            <a:pPr marL="342900" indent="-342900">
              <a:buSzPct val="100000"/>
              <a:buChar char="•"/>
            </a:pPr>
            <a:endParaRPr lang="en-US" sz="16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Features: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since last transaction, transaction frequency patterns</a:t>
            </a:r>
          </a:p>
          <a:p>
            <a:pPr marL="342900" indent="-342900">
              <a:buSzPct val="100000"/>
              <a:buChar char="•"/>
            </a:pPr>
            <a:endParaRPr lang="en-US" sz="16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Analysis: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transformations, z-scores, high/low amount flags</a:t>
            </a:r>
          </a:p>
          <a:p>
            <a:pPr>
              <a:buSzPct val="100000"/>
            </a:pPr>
            <a:endParaRPr lang="en-US" sz="16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Card-specific Patterns: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spending patterns per card</a:t>
            </a:r>
          </a:p>
        </p:txBody>
      </p:sp>
    </p:spTree>
    <p:extLst>
      <p:ext uri="{BB962C8B-B14F-4D97-AF65-F5344CB8AC3E}">
        <p14:creationId xmlns:p14="http://schemas.microsoft.com/office/powerpoint/2010/main" val="3076471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D5A3C-2F93-BE28-0AD5-5D2D4AA81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EF6A62-A478-4DDB-3032-EAB3C9FDFC2C}"/>
              </a:ext>
            </a:extLst>
          </p:cNvPr>
          <p:cNvSpPr/>
          <p:nvPr/>
        </p:nvSpPr>
        <p:spPr>
          <a:xfrm>
            <a:off x="609600" y="29786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Encoding</a:t>
            </a:r>
            <a:endParaRPr lang="en-US" sz="2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3675B-DA77-B40F-1C2C-78E13A9F4AC6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D55D5B-F231-88B3-B586-8109B9D4B2BE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● ● ●  Slide 19 of 40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F873D4A-2146-70AB-AD5B-0C2EA2D21E25}"/>
              </a:ext>
            </a:extLst>
          </p:cNvPr>
          <p:cNvSpPr/>
          <p:nvPr/>
        </p:nvSpPr>
        <p:spPr>
          <a:xfrm>
            <a:off x="685800" y="94504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D625F0A-209C-DFC6-B04B-82DC4EC7ACB1}"/>
              </a:ext>
            </a:extLst>
          </p:cNvPr>
          <p:cNvSpPr/>
          <p:nvPr/>
        </p:nvSpPr>
        <p:spPr>
          <a:xfrm>
            <a:off x="939218" y="1227847"/>
            <a:ext cx="7753677" cy="93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columns (merchant, category, city, state, job) are </a:t>
            </a:r>
            <a:r>
              <a:rPr lang="en-US" b="1" dirty="0"/>
              <a:t>Label Encoded</a:t>
            </a:r>
          </a:p>
          <a:p>
            <a:pPr>
              <a:lnSpc>
                <a:spcPts val="2880"/>
              </a:lnSpc>
              <a:buSzPct val="100000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unknown handling to avoid errors on unseen values at inference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Although, it creates artificial ordinal relationships but with this case give good result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654C6D7-0070-5124-4743-5AEFA48B4B15}"/>
              </a:ext>
            </a:extLst>
          </p:cNvPr>
          <p:cNvSpPr/>
          <p:nvPr/>
        </p:nvSpPr>
        <p:spPr>
          <a:xfrm>
            <a:off x="609600" y="267456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Boolian</a:t>
            </a:r>
            <a:endParaRPr lang="en-US" sz="1600" b="1" dirty="0">
              <a:solidFill>
                <a:srgbClr val="1E3A5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F1B0954-71D1-103C-F2BC-4BA149E948DC}"/>
              </a:ext>
            </a:extLst>
          </p:cNvPr>
          <p:cNvSpPr/>
          <p:nvPr/>
        </p:nvSpPr>
        <p:spPr>
          <a:xfrm>
            <a:off x="914398" y="2940439"/>
            <a:ext cx="5783943" cy="533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 into integer (True = 1) and ( False = 0)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55E20DC-01F8-71DF-D87F-0BD4D86C558F}"/>
              </a:ext>
            </a:extLst>
          </p:cNvPr>
          <p:cNvSpPr/>
          <p:nvPr/>
        </p:nvSpPr>
        <p:spPr>
          <a:xfrm>
            <a:off x="609600" y="3315231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9BF22C2E-A065-10DF-B9F9-D3B41CFAF271}"/>
              </a:ext>
            </a:extLst>
          </p:cNvPr>
          <p:cNvSpPr/>
          <p:nvPr/>
        </p:nvSpPr>
        <p:spPr>
          <a:xfrm>
            <a:off x="914399" y="3644333"/>
            <a:ext cx="7358744" cy="114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feature list combines flags, raw numeric, time/velocity, location dynamics, normalized amounts, merchant risk, and encoded categories are in numerical representation for training the mode</a:t>
            </a:r>
          </a:p>
        </p:txBody>
      </p:sp>
    </p:spTree>
    <p:extLst>
      <p:ext uri="{BB962C8B-B14F-4D97-AF65-F5344CB8AC3E}">
        <p14:creationId xmlns:p14="http://schemas.microsoft.com/office/powerpoint/2010/main" val="432158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78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Process</a:t>
            </a:r>
            <a:endParaRPr lang="en-US" sz="2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7EF87-978B-898A-2A9B-FEBDF5FEF238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06DE08-05A3-19A4-9EB3-17BD57D157F9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● ● ●  Slide 20 of 40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BF68B91-1CD4-FCF6-F3B0-053DD87B7397}"/>
              </a:ext>
            </a:extLst>
          </p:cNvPr>
          <p:cNvSpPr/>
          <p:nvPr/>
        </p:nvSpPr>
        <p:spPr>
          <a:xfrm>
            <a:off x="609600" y="941871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9F5F3D6-C6AC-ED6A-023A-EEE86079ACDB}"/>
              </a:ext>
            </a:extLst>
          </p:cNvPr>
          <p:cNvSpPr/>
          <p:nvPr/>
        </p:nvSpPr>
        <p:spPr>
          <a:xfrm>
            <a:off x="914399" y="1307631"/>
            <a:ext cx="6233887" cy="533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  <a:buSzPct val="100000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most predictive and stable features for classification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5043BBB-1BCB-77C3-E4DC-06FEAC333CF8}"/>
              </a:ext>
            </a:extLst>
          </p:cNvPr>
          <p:cNvSpPr/>
          <p:nvPr/>
        </p:nvSpPr>
        <p:spPr>
          <a:xfrm>
            <a:off x="609600" y="178521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0CACE54A-5FC6-6C6C-DBFF-947A7AFEFE8F}"/>
              </a:ext>
            </a:extLst>
          </p:cNvPr>
          <p:cNvSpPr/>
          <p:nvPr/>
        </p:nvSpPr>
        <p:spPr>
          <a:xfrm>
            <a:off x="914399" y="2189071"/>
            <a:ext cx="5783943" cy="220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  <a:buSzPct val="100000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</a:t>
            </a:r>
            <a:r>
              <a:rPr lang="en-US" sz="1600" dirty="0"/>
              <a:t>statistical, filter, and model-based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BCE40-9816-D75D-59C2-0609D23B7603}"/>
              </a:ext>
            </a:extLst>
          </p:cNvPr>
          <p:cNvSpPr txBox="1"/>
          <p:nvPr/>
        </p:nvSpPr>
        <p:spPr>
          <a:xfrm>
            <a:off x="1134836" y="2681064"/>
            <a:ext cx="672192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Variance threshold </a:t>
            </a:r>
            <a:r>
              <a:rPr lang="en-US" sz="1600" dirty="0"/>
              <a:t>to remove low-variance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Mutual information </a:t>
            </a:r>
            <a:r>
              <a:rPr lang="en-US" sz="1600" dirty="0"/>
              <a:t>for feature relevance scoring.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Model-specific importance rankings.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Selected top </a:t>
            </a:r>
            <a:r>
              <a:rPr lang="en-US" sz="1600" b="1" dirty="0"/>
              <a:t>30</a:t>
            </a:r>
            <a:r>
              <a:rPr lang="en-US" sz="1600" dirty="0"/>
              <a:t> features for final modeling.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651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865627"/>
            <a:ext cx="3886200" cy="357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out Dataset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094226"/>
            <a:ext cx="3505200" cy="237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0.3 % from the dataset to evaluate the model in totally unseen data and make predictions.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Take the 0.3 % from each class to keep the same ration for fraud class (0.6%) 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This step confirm 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Generalization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24400" y="85952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088128"/>
            <a:ext cx="3663696" cy="259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99.7 % data into train ,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test sets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: 70 % , Val : 15% , Test : 15 %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Used the Val for tuning hyperparameter to achieve best performance 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Use Test set to get performances and evaluation metrics result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FC94F1-ED6D-8613-869D-617093828470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12813F-E2D2-1EA7-F14E-1DCAB9AE81E9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○ ● ● ●  Slide 21 of 40</a:t>
            </a:r>
          </a:p>
        </p:txBody>
      </p:sp>
    </p:spTree>
    <p:extLst>
      <p:ext uri="{BB962C8B-B14F-4D97-AF65-F5344CB8AC3E}">
        <p14:creationId xmlns:p14="http://schemas.microsoft.com/office/powerpoint/2010/main" val="3493840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48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349143"/>
            <a:ext cx="7620000" cy="167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imbalanced data with class weighting and </a:t>
            </a:r>
            <a:r>
              <a:rPr lang="en-US" sz="13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</a:t>
            </a:r>
            <a:endParaRPr lang="en-US" sz="1350" dirty="0">
              <a:solidFill>
                <a:schemeClr val="accent4"/>
              </a:solidFill>
            </a:endParaRP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baseline models used in the training.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used </a:t>
            </a:r>
            <a:r>
              <a:rPr lang="en-US" sz="1350" dirty="0" err="1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</a:t>
            </a: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Evaluation Metric to get model performance.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81A853-154E-50EE-D904-5D282E96D9D7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accent4"/>
                </a:solidFill>
              </a:rPr>
              <a:t>○ ○ ● ● ●  Slide 22 of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35565-C8CE-62FE-FD78-28342BB5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2A173E-F12A-CC25-B713-3367458D863E}"/>
              </a:ext>
            </a:extLst>
          </p:cNvPr>
          <p:cNvSpPr/>
          <p:nvPr/>
        </p:nvSpPr>
        <p:spPr>
          <a:xfrm>
            <a:off x="609600" y="29878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Handleing</a:t>
            </a: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imbalanced data </a:t>
            </a:r>
            <a:endParaRPr lang="en-US" sz="2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EB67AC-C1EC-DD4F-AF96-933DAA5F8DB7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D0C796-478D-15D2-E5A1-1EB969C63D71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23 of 40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375D0C7-5A6B-DE1C-7EA7-96A800359406}"/>
              </a:ext>
            </a:extLst>
          </p:cNvPr>
          <p:cNvSpPr/>
          <p:nvPr/>
        </p:nvSpPr>
        <p:spPr>
          <a:xfrm>
            <a:off x="765048" y="97996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DCD7E88-7A0A-8A65-3859-424052C4BD05}"/>
              </a:ext>
            </a:extLst>
          </p:cNvPr>
          <p:cNvSpPr/>
          <p:nvPr/>
        </p:nvSpPr>
        <p:spPr>
          <a:xfrm>
            <a:off x="914399" y="1307631"/>
            <a:ext cx="6233887" cy="533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come biasing in the model by balancing the training set.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4D66EA7-DC0A-A07F-E7ED-A1F7978BA184}"/>
              </a:ext>
            </a:extLst>
          </p:cNvPr>
          <p:cNvSpPr/>
          <p:nvPr/>
        </p:nvSpPr>
        <p:spPr>
          <a:xfrm>
            <a:off x="765048" y="1767181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168946F-FA64-73E4-8348-ED251BBA2F48}"/>
              </a:ext>
            </a:extLst>
          </p:cNvPr>
          <p:cNvSpPr/>
          <p:nvPr/>
        </p:nvSpPr>
        <p:spPr>
          <a:xfrm>
            <a:off x="914399" y="2189071"/>
            <a:ext cx="6749144" cy="138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distribution: 99.4% legitimate vs 0.6% fraudulent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(Synthetic Minority Oversampling) to balance classes.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sampling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maintain distribution in splits.</a:t>
            </a:r>
          </a:p>
        </p:txBody>
      </p:sp>
    </p:spTree>
    <p:extLst>
      <p:ext uri="{BB962C8B-B14F-4D97-AF65-F5344CB8AC3E}">
        <p14:creationId xmlns:p14="http://schemas.microsoft.com/office/powerpoint/2010/main" val="206531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08674-4EE8-19A1-1046-4F1A8D6E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E08AD5-3EDF-DE48-A0A9-34CB7B00EAAD}"/>
              </a:ext>
            </a:extLst>
          </p:cNvPr>
          <p:cNvSpPr/>
          <p:nvPr/>
        </p:nvSpPr>
        <p:spPr>
          <a:xfrm>
            <a:off x="609600" y="29878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models</a:t>
            </a:r>
            <a:endParaRPr lang="en-US" sz="2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2FB9DE-A60D-9442-CC79-C47050F07DA0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D701FE-11D7-6BE6-B59A-7FA00F695DF3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24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AFA8C4B-5394-4E55-5DAD-37E4956AC1A7}"/>
              </a:ext>
            </a:extLst>
          </p:cNvPr>
          <p:cNvSpPr/>
          <p:nvPr/>
        </p:nvSpPr>
        <p:spPr>
          <a:xfrm>
            <a:off x="486229" y="1322255"/>
            <a:ext cx="8599713" cy="84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(RF)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imbalanced data well, robust to overfitting, provides feature importance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variants with different class weights and SMOTE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5196AB-5521-A56B-65C0-C47CD624AC80}"/>
              </a:ext>
            </a:extLst>
          </p:cNvPr>
          <p:cNvSpPr/>
          <p:nvPr/>
        </p:nvSpPr>
        <p:spPr>
          <a:xfrm>
            <a:off x="609600" y="92497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used 3  different models for training  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206AAC-F703-B0DE-9E07-AC3633537A1D}"/>
              </a:ext>
            </a:extLst>
          </p:cNvPr>
          <p:cNvSpPr/>
          <p:nvPr/>
        </p:nvSpPr>
        <p:spPr>
          <a:xfrm>
            <a:off x="609600" y="2338567"/>
            <a:ext cx="8599713" cy="84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b="1" dirty="0" err="1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(XGB)</a:t>
            </a:r>
          </a:p>
          <a:p>
            <a:pPr marL="342900" indent="-168275"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Strengths: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High performance, built-in regularization, excellent with structured data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Configuration: </a:t>
            </a:r>
            <a:r>
              <a:rPr lang="en-US" sz="16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Scale_pos_weight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imbalance, early stopping, multiple hyperparameters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32EE4DA-173E-D584-E4D0-8776EA280FA6}"/>
              </a:ext>
            </a:extLst>
          </p:cNvPr>
          <p:cNvSpPr/>
          <p:nvPr/>
        </p:nvSpPr>
        <p:spPr>
          <a:xfrm>
            <a:off x="609599" y="3345549"/>
            <a:ext cx="8599713" cy="84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chemeClr val="accent4"/>
                </a:solidFill>
              </a:rPr>
              <a:t>LightGBM</a:t>
            </a:r>
            <a:r>
              <a:rPr lang="en-US" b="1" dirty="0">
                <a:solidFill>
                  <a:schemeClr val="accent4"/>
                </a:solidFill>
              </a:rPr>
              <a:t> (LGBM)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Strengths: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Fast training, good with large datasets, handles categorical features well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class weights, optimized for speed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3351912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0489-612D-05E8-5C31-DED03D88D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17D0AC-DCA2-AFD5-D4AF-70626664F6B8}"/>
              </a:ext>
            </a:extLst>
          </p:cNvPr>
          <p:cNvSpPr/>
          <p:nvPr/>
        </p:nvSpPr>
        <p:spPr>
          <a:xfrm>
            <a:off x="609600" y="29878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Evaluation Framework</a:t>
            </a:r>
            <a:endParaRPr lang="en-US" sz="2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FBEA1-A73B-7177-F02A-A049A501E1A3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2C99F7-FE7D-7921-63ED-1AD45E3A7899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25 of 40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85CFFB6-120D-CBEC-C154-E3BC7427536E}"/>
              </a:ext>
            </a:extLst>
          </p:cNvPr>
          <p:cNvSpPr/>
          <p:nvPr/>
        </p:nvSpPr>
        <p:spPr>
          <a:xfrm>
            <a:off x="805541" y="1023264"/>
            <a:ext cx="8599713" cy="277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Same feature set for all models</a:t>
            </a: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endParaRPr lang="en-US" sz="1600" dirty="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Identical train/test/holdout splits</a:t>
            </a:r>
          </a:p>
          <a:p>
            <a:pPr>
              <a:buSzPct val="100000"/>
            </a:pPr>
            <a:endParaRPr lang="en-US" sz="1600" b="1" dirty="0">
              <a:solidFill>
                <a:schemeClr val="accent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Consistent evaluation metrics</a:t>
            </a:r>
          </a:p>
          <a:p>
            <a:pPr>
              <a:buSzPct val="100000"/>
            </a:pPr>
            <a:endParaRPr lang="en-US" sz="1600" b="1" dirty="0">
              <a:solidFill>
                <a:schemeClr val="accent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Fair comparison under equal conditions</a:t>
            </a:r>
          </a:p>
        </p:txBody>
      </p:sp>
    </p:spTree>
    <p:extLst>
      <p:ext uri="{BB962C8B-B14F-4D97-AF65-F5344CB8AC3E}">
        <p14:creationId xmlns:p14="http://schemas.microsoft.com/office/powerpoint/2010/main" val="206969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71E19-047E-F23A-04FF-33FDC96B4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D7246D-8DA3-BC11-57A5-CAA96231D66D}"/>
              </a:ext>
            </a:extLst>
          </p:cNvPr>
          <p:cNvSpPr/>
          <p:nvPr/>
        </p:nvSpPr>
        <p:spPr>
          <a:xfrm>
            <a:off x="609600" y="251778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training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B3229C-21DE-CB1C-5025-CF00056EA99F}"/>
              </a:ext>
            </a:extLst>
          </p:cNvPr>
          <p:cNvSpPr/>
          <p:nvPr/>
        </p:nvSpPr>
        <p:spPr>
          <a:xfrm>
            <a:off x="609600" y="82254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Variants Tested: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422ECD-AFE9-2729-C2A8-57C0E4D4467F}"/>
              </a:ext>
            </a:extLst>
          </p:cNvPr>
          <p:cNvSpPr/>
          <p:nvPr/>
        </p:nvSpPr>
        <p:spPr>
          <a:xfrm>
            <a:off x="914400" y="1123826"/>
            <a:ext cx="6393366" cy="144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Balanced, SMOTE, Custom weights,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BalancedRF</a:t>
            </a:r>
            <a:endParaRPr lang="en-US" sz="12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2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Scaled weight, SMOTE, Balanced, High weight</a:t>
            </a: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2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Balanced, SMOTE, Custom weight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1357D5-0660-EF0E-25A7-F1896560C74A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8A4314-1F7B-88EE-C1B7-9ECA177C54FF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26 of 40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9BEAB3E-5D8B-F0F4-90E0-3B67A443F42B}"/>
              </a:ext>
            </a:extLst>
          </p:cNvPr>
          <p:cNvSpPr/>
          <p:nvPr/>
        </p:nvSpPr>
        <p:spPr>
          <a:xfrm>
            <a:off x="609600" y="2644431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Strategy:</a:t>
            </a:r>
          </a:p>
          <a:p>
            <a:pPr marL="0" indent="0">
              <a:lnSpc>
                <a:spcPts val="2400"/>
              </a:lnSpc>
              <a:buNone/>
            </a:pPr>
            <a:endParaRPr lang="en-US" sz="1500" b="1" dirty="0">
              <a:solidFill>
                <a:srgbClr val="1E3A5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2B16F71-8C91-E569-2BCD-1E474BF45B03}"/>
              </a:ext>
            </a:extLst>
          </p:cNvPr>
          <p:cNvSpPr/>
          <p:nvPr/>
        </p:nvSpPr>
        <p:spPr>
          <a:xfrm>
            <a:off x="959933" y="2890872"/>
            <a:ext cx="6819723" cy="143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training, 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validation and 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testing  split</a:t>
            </a: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sampling to maintain class distribution</a:t>
            </a:r>
          </a:p>
          <a:p>
            <a:pPr marL="342900" indent="-342900">
              <a:lnSpc>
                <a:spcPct val="25000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where applicable with </a:t>
            </a:r>
            <a:r>
              <a:rPr lang="en-US" sz="12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tuning hyperparameters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61412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3120-C5B0-E01E-7A99-EE6BC082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635F11-08DD-0454-D727-A8FC99CCE71B}"/>
              </a:ext>
            </a:extLst>
          </p:cNvPr>
          <p:cNvSpPr/>
          <p:nvPr/>
        </p:nvSpPr>
        <p:spPr>
          <a:xfrm>
            <a:off x="609600" y="251778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Evaluation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8CB134-14D8-F3E0-BBEF-1FEF2F552EAB}"/>
              </a:ext>
            </a:extLst>
          </p:cNvPr>
          <p:cNvSpPr/>
          <p:nvPr/>
        </p:nvSpPr>
        <p:spPr>
          <a:xfrm>
            <a:off x="609600" y="803489"/>
            <a:ext cx="218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Evaluation Criteria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243DA9-A7BB-6222-5736-25804B7A9FF1}"/>
              </a:ext>
            </a:extLst>
          </p:cNvPr>
          <p:cNvSpPr/>
          <p:nvPr/>
        </p:nvSpPr>
        <p:spPr>
          <a:xfrm>
            <a:off x="914400" y="1520767"/>
            <a:ext cx="6393366" cy="134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Precision (AP):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metric for imbalanced data.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between precision and recall for fraud class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AUC: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discrimination ability.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catch actual fraud cases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228E1-97E8-C22B-EDD1-5D6716631246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152C08A-EC4B-923E-2665-1B003DDD4216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27 of 40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910A86A-4128-A198-5F65-206A0E093F6D}"/>
              </a:ext>
            </a:extLst>
          </p:cNvPr>
          <p:cNvSpPr/>
          <p:nvPr/>
        </p:nvSpPr>
        <p:spPr>
          <a:xfrm>
            <a:off x="609600" y="1163009"/>
            <a:ext cx="218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Metrics:</a:t>
            </a:r>
          </a:p>
          <a:p>
            <a:pPr marL="0" indent="0">
              <a:lnSpc>
                <a:spcPts val="2400"/>
              </a:lnSpc>
              <a:buNone/>
            </a:pPr>
            <a:endParaRPr lang="en-US" sz="1500" b="1" dirty="0">
              <a:solidFill>
                <a:srgbClr val="1E3A5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06CD82F-046A-2BF9-5D06-8CD2CBAF13E6}"/>
              </a:ext>
            </a:extLst>
          </p:cNvPr>
          <p:cNvSpPr/>
          <p:nvPr/>
        </p:nvSpPr>
        <p:spPr>
          <a:xfrm>
            <a:off x="609599" y="2883201"/>
            <a:ext cx="2699657" cy="2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Business-focused Metrics:</a:t>
            </a:r>
          </a:p>
          <a:p>
            <a:pPr marL="0" indent="0">
              <a:lnSpc>
                <a:spcPts val="2400"/>
              </a:lnSpc>
              <a:buNone/>
            </a:pPr>
            <a:endParaRPr lang="en-US" sz="1500" b="1" dirty="0">
              <a:solidFill>
                <a:schemeClr val="accent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endParaRPr lang="en-US" sz="1500" b="1" dirty="0">
              <a:solidFill>
                <a:srgbClr val="1E3A5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FA90E28-2B8F-E922-DF10-1C90C6B0EF87}"/>
              </a:ext>
            </a:extLst>
          </p:cNvPr>
          <p:cNvSpPr/>
          <p:nvPr/>
        </p:nvSpPr>
        <p:spPr>
          <a:xfrm>
            <a:off x="965200" y="3306703"/>
            <a:ext cx="7315200" cy="134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Threshold: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threshold tuning for business needs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legitimate transactions flagged as fraud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Mean: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between fraud and legitimate class performance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88944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B5AC4-AC5D-2599-28F5-12C227D3C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514ACE-EF9B-D2AB-2B8F-CF0456D77F70}"/>
              </a:ext>
            </a:extLst>
          </p:cNvPr>
          <p:cNvSpPr/>
          <p:nvPr/>
        </p:nvSpPr>
        <p:spPr>
          <a:xfrm>
            <a:off x="609600" y="251778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Average Precision?</a:t>
            </a:r>
            <a:endParaRPr lang="en-US" sz="2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6A8A02-CEA5-BDF2-DD40-49E39DF05DEA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51B2DDE-E271-7358-441C-FB9BF4578F06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28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8445B90-7E0E-FFE3-5D84-A2F684AC195C}"/>
              </a:ext>
            </a:extLst>
          </p:cNvPr>
          <p:cNvSpPr/>
          <p:nvPr/>
        </p:nvSpPr>
        <p:spPr>
          <a:xfrm>
            <a:off x="914400" y="1012767"/>
            <a:ext cx="6393366" cy="200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informative than ROC AUC for imbalanced data.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en-US" sz="1400" b="1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performance where it matters (</a:t>
            </a:r>
            <a:r>
              <a:rPr lang="en-US" sz="1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recall regions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en-US" sz="1400" b="1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represents real-world business impact.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87326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262A-5D67-1540-4E39-14C09BF1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696A19-1262-A39F-5847-A915F07AEDC2}"/>
              </a:ext>
            </a:extLst>
          </p:cNvPr>
          <p:cNvSpPr/>
          <p:nvPr/>
        </p:nvSpPr>
        <p:spPr>
          <a:xfrm>
            <a:off x="609600" y="29878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D1CADA-5352-C36D-B999-5E6FF25EEA2D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5EEBA-8D53-FD34-118D-52F5813F03BE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29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464F1CA-5EEE-A526-A857-8C2E56BE4291}"/>
              </a:ext>
            </a:extLst>
          </p:cNvPr>
          <p:cNvSpPr/>
          <p:nvPr/>
        </p:nvSpPr>
        <p:spPr>
          <a:xfrm>
            <a:off x="486229" y="1100599"/>
            <a:ext cx="8599713" cy="109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(RF)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Variant: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Random Forest with SMOTE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interpretability, robust performance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inference, memory intensive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135F36-A4D9-B286-4901-63BE8A393C84}"/>
              </a:ext>
            </a:extLst>
          </p:cNvPr>
          <p:cNvSpPr/>
          <p:nvPr/>
        </p:nvSpPr>
        <p:spPr>
          <a:xfrm>
            <a:off x="609600" y="764643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Summary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F527DD-4465-0378-1D75-753E18E05DC8}"/>
              </a:ext>
            </a:extLst>
          </p:cNvPr>
          <p:cNvSpPr/>
          <p:nvPr/>
        </p:nvSpPr>
        <p:spPr>
          <a:xfrm>
            <a:off x="609596" y="2325821"/>
            <a:ext cx="8599713" cy="109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b="1" dirty="0" err="1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(XGB)</a:t>
            </a:r>
          </a:p>
          <a:p>
            <a:pPr marL="342900" indent="-168275"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Best Variant: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Scaled weight with early stopping</a:t>
            </a:r>
          </a:p>
          <a:p>
            <a:pPr marL="342900" indent="-168275"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Strengths: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High accuracy, fast inference, handles complexity well</a:t>
            </a:r>
          </a:p>
          <a:p>
            <a:pPr marL="342900" indent="-168275"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Weaknesses: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More hyperparameter tuning required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8BCC8D0-1F00-26CC-6F84-00DC4078286B}"/>
              </a:ext>
            </a:extLst>
          </p:cNvPr>
          <p:cNvSpPr/>
          <p:nvPr/>
        </p:nvSpPr>
        <p:spPr>
          <a:xfrm>
            <a:off x="609600" y="3465241"/>
            <a:ext cx="8599713" cy="11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chemeClr val="accent4"/>
                </a:solidFill>
              </a:rPr>
              <a:t>LightGBM</a:t>
            </a:r>
            <a:r>
              <a:rPr lang="en-US" b="1" dirty="0">
                <a:solidFill>
                  <a:schemeClr val="accent4"/>
                </a:solidFill>
              </a:rPr>
              <a:t> (LGBM)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Best Variant: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Balanced class weights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Strengths: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Fastest training, good with large feature sets</a:t>
            </a:r>
          </a:p>
          <a:p>
            <a:pPr marL="342900" indent="-168275"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Weaknesses: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Slightly lower performance on complex patterns</a:t>
            </a:r>
            <a:endParaRPr lang="en-US" sz="16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6977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4A58B-3C2A-BF7B-C677-5B6CEBAA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D479E5-17EF-2E6F-6F41-10C12B68ADCF}"/>
              </a:ext>
            </a:extLst>
          </p:cNvPr>
          <p:cNvSpPr/>
          <p:nvPr/>
        </p:nvSpPr>
        <p:spPr>
          <a:xfrm>
            <a:off x="609600" y="29878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Selection - </a:t>
            </a:r>
            <a:r>
              <a:rPr lang="en-US" sz="2700" b="1" dirty="0" err="1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2700" b="1" dirty="0">
              <a:solidFill>
                <a:schemeClr val="accent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7B3D21-5F6B-B321-9578-E60ED9195F25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18DF3C-DD9F-BF68-083C-CDADAE1E9EA7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30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E232823-4197-5994-5EE5-2057C6F888B5}"/>
              </a:ext>
            </a:extLst>
          </p:cNvPr>
          <p:cNvSpPr/>
          <p:nvPr/>
        </p:nvSpPr>
        <p:spPr>
          <a:xfrm>
            <a:off x="544287" y="1472968"/>
            <a:ext cx="8599713" cy="222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Advantages:</a:t>
            </a:r>
          </a:p>
          <a:p>
            <a:pPr>
              <a:buSzPct val="100000"/>
            </a:pPr>
            <a:endParaRPr lang="en-US" sz="1600" b="1" dirty="0">
              <a:solidFill>
                <a:schemeClr val="accent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Average Precision: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0.927 vs 0.926 (RF) and 0.91 (LGBM)</a:t>
            </a: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F1-Score: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 vs 0.91 (RF) and 0.84 (LGBM)</a:t>
            </a: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ROC AUC: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0.9973 across all models</a:t>
            </a: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Generalization: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performance drop on holdout set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4F4CE8-B5AC-2D91-40F0-0D396BE43221}"/>
              </a:ext>
            </a:extLst>
          </p:cNvPr>
          <p:cNvSpPr/>
          <p:nvPr/>
        </p:nvSpPr>
        <p:spPr>
          <a:xfrm>
            <a:off x="609600" y="95112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r>
              <a:rPr lang="en-US" sz="16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Won ?</a:t>
            </a:r>
          </a:p>
        </p:txBody>
      </p:sp>
    </p:spTree>
    <p:extLst>
      <p:ext uri="{BB962C8B-B14F-4D97-AF65-F5344CB8AC3E}">
        <p14:creationId xmlns:p14="http://schemas.microsoft.com/office/powerpoint/2010/main" val="3716097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0CE9-0692-C7E4-8D9C-9DC486322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4A1BEB-CFDD-4EFD-FBBD-D664FB10065E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D7D7FD-E671-1755-ACDA-41F5C230413D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31 of 40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D518FDE-EEAD-048F-65C5-D1465C40A12E}"/>
              </a:ext>
            </a:extLst>
          </p:cNvPr>
          <p:cNvSpPr/>
          <p:nvPr/>
        </p:nvSpPr>
        <p:spPr>
          <a:xfrm>
            <a:off x="399144" y="362509"/>
            <a:ext cx="8599713" cy="20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Advantages:</a:t>
            </a:r>
          </a:p>
          <a:p>
            <a:pPr>
              <a:buSzPct val="100000"/>
            </a:pPr>
            <a:endParaRPr lang="en-US" sz="700" b="1" dirty="0">
              <a:solidFill>
                <a:schemeClr val="accent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regularization prevents overfitting</a:t>
            </a: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handling of class imbalance through </a:t>
            </a:r>
            <a:r>
              <a:rPr lang="en-US" sz="16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scale_pos_weight</a:t>
            </a:r>
            <a:endParaRPr lang="en-US" sz="1600" b="1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optimizes training time</a:t>
            </a: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provides good interpretability</a:t>
            </a:r>
            <a:endParaRPr lang="en-US" sz="16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264EE7-2058-85A1-1D32-85296AE44C3F}"/>
              </a:ext>
            </a:extLst>
          </p:cNvPr>
          <p:cNvSpPr/>
          <p:nvPr/>
        </p:nvSpPr>
        <p:spPr>
          <a:xfrm>
            <a:off x="399144" y="2540000"/>
            <a:ext cx="8599713" cy="20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Advantages:</a:t>
            </a:r>
          </a:p>
          <a:p>
            <a:pPr>
              <a:buSzPct val="100000"/>
            </a:pPr>
            <a:endParaRPr lang="en-US" sz="700" b="1" dirty="0">
              <a:solidFill>
                <a:schemeClr val="accent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prediction times suitable for real-time applications</a:t>
            </a: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performance across different fraud patterns</a:t>
            </a:r>
          </a:p>
          <a:p>
            <a:pPr marL="342900" indent="-168275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Well-documented and widely supported in production</a:t>
            </a:r>
            <a:endParaRPr lang="en-US" sz="16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7646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B046-80F7-8987-9E78-7B26CDED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8C7A7D-9440-5C8E-2E5F-B5374141A793}"/>
              </a:ext>
            </a:extLst>
          </p:cNvPr>
          <p:cNvSpPr/>
          <p:nvPr/>
        </p:nvSpPr>
        <p:spPr>
          <a:xfrm>
            <a:off x="609600" y="251778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Results</a:t>
            </a:r>
            <a:endParaRPr lang="en-US" sz="2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46E3CE-40EC-DA74-823F-749CAB2E8D8C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B628DF-D71C-F214-AEB5-B946F0182CC9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32 of 40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960078-B39E-CC32-B815-3F0D6A371CDE}"/>
              </a:ext>
            </a:extLst>
          </p:cNvPr>
          <p:cNvGraphicFramePr>
            <a:graphicFrameLocks noGrp="1"/>
          </p:cNvGraphicFramePr>
          <p:nvPr/>
        </p:nvGraphicFramePr>
        <p:xfrm>
          <a:off x="870857" y="878578"/>
          <a:ext cx="7124569" cy="117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371">
                  <a:extLst>
                    <a:ext uri="{9D8B030D-6E8A-4147-A177-3AD203B41FA5}">
                      <a16:colId xmlns:a16="http://schemas.microsoft.com/office/drawing/2014/main" val="3989437628"/>
                    </a:ext>
                  </a:extLst>
                </a:gridCol>
                <a:gridCol w="1105033">
                  <a:extLst>
                    <a:ext uri="{9D8B030D-6E8A-4147-A177-3AD203B41FA5}">
                      <a16:colId xmlns:a16="http://schemas.microsoft.com/office/drawing/2014/main" val="2590142805"/>
                    </a:ext>
                  </a:extLst>
                </a:gridCol>
                <a:gridCol w="1105033">
                  <a:extLst>
                    <a:ext uri="{9D8B030D-6E8A-4147-A177-3AD203B41FA5}">
                      <a16:colId xmlns:a16="http://schemas.microsoft.com/office/drawing/2014/main" val="2951263717"/>
                    </a:ext>
                  </a:extLst>
                </a:gridCol>
                <a:gridCol w="1105033">
                  <a:extLst>
                    <a:ext uri="{9D8B030D-6E8A-4147-A177-3AD203B41FA5}">
                      <a16:colId xmlns:a16="http://schemas.microsoft.com/office/drawing/2014/main" val="1810029299"/>
                    </a:ext>
                  </a:extLst>
                </a:gridCol>
                <a:gridCol w="1105033">
                  <a:extLst>
                    <a:ext uri="{9D8B030D-6E8A-4147-A177-3AD203B41FA5}">
                      <a16:colId xmlns:a16="http://schemas.microsoft.com/office/drawing/2014/main" val="841802783"/>
                    </a:ext>
                  </a:extLst>
                </a:gridCol>
                <a:gridCol w="1105033">
                  <a:extLst>
                    <a:ext uri="{9D8B030D-6E8A-4147-A177-3AD203B41FA5}">
                      <a16:colId xmlns:a16="http://schemas.microsoft.com/office/drawing/2014/main" val="2976532526"/>
                    </a:ext>
                  </a:extLst>
                </a:gridCol>
                <a:gridCol w="1105033">
                  <a:extLst>
                    <a:ext uri="{9D8B030D-6E8A-4147-A177-3AD203B41FA5}">
                      <a16:colId xmlns:a16="http://schemas.microsoft.com/office/drawing/2014/main" val="1490589737"/>
                    </a:ext>
                  </a:extLst>
                </a:gridCol>
              </a:tblGrid>
              <a:tr h="2423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ROC_AUC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PR_AUC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Recall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F1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187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RF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0.9971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0.93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0.91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0.91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0.91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8387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XGB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0.9973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0.9270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0.9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0.96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0.93 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8336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LGBM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0.9971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0.9188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0.91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0.84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019673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2619BA1-8893-4E1F-6AD7-08A758DA1D85}"/>
              </a:ext>
            </a:extLst>
          </p:cNvPr>
          <p:cNvGraphicFramePr/>
          <p:nvPr/>
        </p:nvGraphicFramePr>
        <p:xfrm>
          <a:off x="870857" y="2249147"/>
          <a:ext cx="7537163" cy="2470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19295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446B7-0A73-D4BC-907B-E674D831E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3FE966-5461-17CF-98B6-077E164C227C}"/>
              </a:ext>
            </a:extLst>
          </p:cNvPr>
          <p:cNvSpPr/>
          <p:nvPr/>
        </p:nvSpPr>
        <p:spPr>
          <a:xfrm>
            <a:off x="492690" y="265663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ANALYSIS</a:t>
            </a:r>
            <a:endParaRPr lang="en-US" sz="2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88CAB0-E647-2656-B4F2-A4234E788BCD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FF70D4-EA9A-8902-C7DE-AFE17389B3D7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33 of 40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0D985B-236F-BEC4-1BCB-260FC5C8B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59555"/>
              </p:ext>
            </p:extLst>
          </p:nvPr>
        </p:nvGraphicFramePr>
        <p:xfrm>
          <a:off x="228600" y="945710"/>
          <a:ext cx="868680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989437628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5901428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9512637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81002929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841802783"/>
                    </a:ext>
                  </a:extLst>
                </a:gridCol>
              </a:tblGrid>
              <a:tr h="1577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RF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XGB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LGBM</a:t>
                      </a:r>
                    </a:p>
                  </a:txBody>
                  <a:tcPr anchor="ctr">
                    <a:solidFill>
                      <a:srgbClr val="0F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187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Estimated Fraud Prevented(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1178 trans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1278 trans</a:t>
                      </a:r>
                      <a:endParaRPr lang="en-US" sz="13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 trans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8387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Fraud Amount</a:t>
                      </a:r>
                      <a:endParaRPr lang="en-US" sz="13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$308.71</a:t>
                      </a:r>
                      <a:endParaRPr lang="en-US" sz="13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$308.71</a:t>
                      </a:r>
                      <a:endParaRPr lang="en-US" sz="1300" b="1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$308.71</a:t>
                      </a:r>
                      <a:endParaRPr lang="en-US" sz="13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36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Fraud Savings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$363661.07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$394532.13</a:t>
                      </a:r>
                      <a:endParaRPr lang="en-US" sz="13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$370452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0196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 Positives (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FP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 trans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160 trans</a:t>
                      </a:r>
                      <a:endParaRPr lang="en-US" sz="13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 trans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3773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 Positive Cost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$1720.00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$1600.00</a:t>
                      </a:r>
                      <a:endParaRPr lang="en-US" sz="13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$6040.00</a:t>
                      </a:r>
                      <a:endParaRPr lang="en-US" sz="13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630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 SAVINGS</a:t>
                      </a:r>
                      <a:endParaRPr lang="en-US" sz="13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$361941.07</a:t>
                      </a:r>
                      <a:endParaRPr lang="en-US" sz="13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$392932.13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$364412</a:t>
                      </a:r>
                      <a:endParaRPr lang="en-US" sz="13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3704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B3C115-CC18-BC95-6EDE-C6E50BF30C84}"/>
              </a:ext>
            </a:extLst>
          </p:cNvPr>
          <p:cNvSpPr txBox="1"/>
          <p:nvPr/>
        </p:nvSpPr>
        <p:spPr>
          <a:xfrm>
            <a:off x="221198" y="3699875"/>
            <a:ext cx="5606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: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avg_fraud_amount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data[data['</a:t>
            </a:r>
            <a:r>
              <a:rPr lang="en-US" sz="12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is_fraud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'] == 1]['amt'].mean() =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$ 308.71</a:t>
            </a:r>
            <a:endParaRPr lang="en-US" sz="12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 Positives amount  = estimated to be 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$ 10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26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77"/>
            <a:ext cx="1828800" cy="1348740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88772" y="1325877"/>
            <a:ext cx="1828800" cy="1348740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1364" y="1325877"/>
            <a:ext cx="1828800" cy="1348740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XGB-Model Performance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17880" y="1554477"/>
            <a:ext cx="15406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02A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7880" y="2179318"/>
            <a:ext cx="1453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94991" y="1554477"/>
            <a:ext cx="1399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02A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005877" y="2179318"/>
            <a:ext cx="1254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46046" y="1555925"/>
            <a:ext cx="127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02A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146046" y="2190748"/>
            <a:ext cx="12794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6868" y="3016336"/>
            <a:ext cx="8083296" cy="411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1,000 flagged transactions, 900 are actual fraud</a:t>
            </a:r>
            <a:endParaRPr lang="en-US" sz="16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D43A44D-2822-AB98-07A6-B16324B1F8CB}"/>
              </a:ext>
            </a:extLst>
          </p:cNvPr>
          <p:cNvSpPr/>
          <p:nvPr/>
        </p:nvSpPr>
        <p:spPr>
          <a:xfrm>
            <a:off x="4767944" y="1325877"/>
            <a:ext cx="1828800" cy="1348740"/>
          </a:xfrm>
          <a:prstGeom prst="rect">
            <a:avLst/>
          </a:prstGeom>
          <a:solidFill>
            <a:srgbClr val="2C4A6E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91F9385-6876-1D3C-5552-EBC0F931B06A}"/>
              </a:ext>
            </a:extLst>
          </p:cNvPr>
          <p:cNvSpPr/>
          <p:nvPr/>
        </p:nvSpPr>
        <p:spPr>
          <a:xfrm>
            <a:off x="5042595" y="1558821"/>
            <a:ext cx="127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02A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</a:t>
            </a:r>
            <a:endParaRPr lang="en-US" sz="36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27A6251-B99E-F1C4-E0DB-9A16BE14D0B7}"/>
              </a:ext>
            </a:extLst>
          </p:cNvPr>
          <p:cNvSpPr/>
          <p:nvPr/>
        </p:nvSpPr>
        <p:spPr>
          <a:xfrm>
            <a:off x="5054458" y="2179318"/>
            <a:ext cx="12794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15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4E18244-704C-1070-144F-9BC4648A4575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accent4"/>
                </a:solidFill>
              </a:rPr>
              <a:t>○ ● ● ● ●  Slide 34 of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77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Executive overview with key metrics and trends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Transaction monitoring through time window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Fraud (Geospatial - Job)</a:t>
            </a:r>
            <a:endParaRPr lang="en-US" sz="13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816484-2CE8-A616-FE31-96FAC8E49950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0822ED-BE55-BF57-06D0-8E827B9786AA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35 of 40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0A94A8B-EF9E-8151-FD21-5D1C36CE6ACB}"/>
              </a:ext>
            </a:extLst>
          </p:cNvPr>
          <p:cNvSpPr/>
          <p:nvPr/>
        </p:nvSpPr>
        <p:spPr>
          <a:xfrm>
            <a:off x="7162801" y="4027825"/>
            <a:ext cx="1204686" cy="506186"/>
          </a:xfrm>
          <a:prstGeom prst="rightArrow">
            <a:avLst/>
          </a:prstGeom>
          <a:solidFill>
            <a:srgbClr val="F5F7FA"/>
          </a:solidFill>
          <a:ln>
            <a:solidFill>
              <a:srgbClr val="0F1C3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hlinkClick r:id="rId3" action="ppaction://hlinkfile"/>
              </a:rPr>
              <a:t>Dashboard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304" y="31785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Delivered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4335" y="9564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Gains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59795"/>
            <a:ext cx="350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transaction coverage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99 % reduction in review time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7,280 analyst hours saved annually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48200" y="9564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290272"/>
            <a:ext cx="350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$390 labor cost savings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$2.8M  Annual fraud prevented (0.52*390*12)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ratio reduced 0.6% to 0.08%</a:t>
            </a:r>
            <a:endParaRPr lang="en-US" sz="1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113CA3-F575-8250-64B5-0BF203A71C51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accent4"/>
                </a:solidFill>
              </a:rPr>
              <a:t>○ ● ● ● ●  Slide 36 of 40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BC53E68-E737-56E7-F538-14D88624E0A5}"/>
              </a:ext>
            </a:extLst>
          </p:cNvPr>
          <p:cNvSpPr/>
          <p:nvPr/>
        </p:nvSpPr>
        <p:spPr>
          <a:xfrm>
            <a:off x="644335" y="2910069"/>
            <a:ext cx="6748562" cy="188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050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manual_coverage</a:t>
            </a: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</a:t>
            </a:r>
            <a:r>
              <a:rPr lang="en-US" sz="1050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manual_review_capacity</a:t>
            </a: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050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trans_per_day</a:t>
            </a: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* 100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050" dirty="0" err="1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coverage_improvement</a:t>
            </a:r>
            <a:r>
              <a:rPr lang="en-US" sz="1050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 = </a:t>
            </a:r>
            <a:r>
              <a:rPr lang="en-US" sz="1050" dirty="0" err="1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ai_coverage</a:t>
            </a:r>
            <a:r>
              <a:rPr lang="en-US" sz="1050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 - </a:t>
            </a:r>
            <a:r>
              <a:rPr lang="en-US" sz="1050" dirty="0" err="1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manual_coverage</a:t>
            </a:r>
            <a:endParaRPr lang="en-US" sz="1050" dirty="0">
              <a:solidFill>
                <a:srgbClr val="F5F7FA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050" dirty="0">
                <a:solidFill>
                  <a:schemeClr val="accent4"/>
                </a:solidFill>
                <a:latin typeface="Arial" pitchFamily="34" charset="0"/>
                <a:cs typeface="Arial" pitchFamily="34" charset="-120"/>
              </a:rPr>
              <a:t># Example Calculation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050" dirty="0" err="1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daily_transactions</a:t>
            </a:r>
            <a:r>
              <a:rPr lang="en-US" sz="1050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 = 50000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050" dirty="0" err="1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daily_manual_review_capacity</a:t>
            </a:r>
            <a:r>
              <a:rPr lang="en-US" sz="1050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 = 500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Solutions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Extreme class imbalance 
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SMOTE+ENN hybrid + class weighting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High-cardinality features 
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ordinal‑encoded with cross-validation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Evolving fraud patterns 
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Monthly model retraining</a:t>
            </a:r>
            <a:endParaRPr lang="en-US" sz="13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76A54-34F2-7D9B-233E-5882E5223F57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65C050-01FF-7655-9953-B27FDDB7D7E3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○ ● ● ● ●  Slide 37 of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(3-6 months)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682"/>
            <a:ext cx="7620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scoring API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446018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(6-12 months)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827018"/>
            <a:ext cx="7620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analysis for fraud rings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55C28-DED4-5B6E-6342-57FFF83F76DD}"/>
              </a:ext>
            </a:extLst>
          </p:cNvPr>
          <p:cNvSpPr/>
          <p:nvPr/>
        </p:nvSpPr>
        <p:spPr>
          <a:xfrm>
            <a:off x="0" y="4785677"/>
            <a:ext cx="9144000" cy="357822"/>
          </a:xfrm>
          <a:prstGeom prst="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66EFD4-C9B3-6CEB-78EE-16F35031C507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bg1"/>
                </a:solidFill>
              </a:rPr>
              <a:t>● ● ● ● ●  Slide 38 of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2"/>
            <a:ext cx="762000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100% transaction review</a:t>
            </a:r>
            <a:endParaRPr lang="en-US" sz="15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90% fraud detection with 2% false positives</a:t>
            </a:r>
            <a:endParaRPr lang="en-US" sz="15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$390 annual cost savings</a:t>
            </a:r>
            <a:endParaRPr lang="en-US" sz="15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User-friendly Power BI dashboard deployed</a:t>
            </a:r>
            <a:endParaRPr lang="en-US" sz="15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463622-0CAD-0F3A-3A9B-D61F6AC903D0}"/>
              </a:ext>
            </a:extLst>
          </p:cNvPr>
          <p:cNvSpPr txBox="1">
            <a:spLocks/>
          </p:cNvSpPr>
          <p:nvPr/>
        </p:nvSpPr>
        <p:spPr>
          <a:xfrm>
            <a:off x="221198" y="4796949"/>
            <a:ext cx="3255646" cy="35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US" sz="1600" dirty="0">
                <a:solidFill>
                  <a:schemeClr val="accent4"/>
                </a:solidFill>
              </a:rPr>
              <a:t>● ● ● ● ●  Slide 39 of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2023110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3449</TotalTime>
  <Words>2507</Words>
  <Application>Microsoft Office PowerPoint</Application>
  <PresentationFormat>On-screen Show (16:9)</PresentationFormat>
  <Paragraphs>437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walid elsayed</cp:lastModifiedBy>
  <cp:revision>26</cp:revision>
  <dcterms:created xsi:type="dcterms:W3CDTF">2025-11-07T21:53:47Z</dcterms:created>
  <dcterms:modified xsi:type="dcterms:W3CDTF">2025-11-12T13:33:22Z</dcterms:modified>
</cp:coreProperties>
</file>